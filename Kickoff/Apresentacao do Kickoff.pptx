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oboto"/>
      <p:regular r:id="rId48"/>
      <p:bold r:id="rId49"/>
      <p:italic r:id="rId50"/>
      <p:boldItalic r:id="rId51"/>
    </p:embeddedFont>
    <p:embeddedFont>
      <p:font typeface="Old Standard TT"/>
      <p:regular r:id="rId52"/>
      <p:bold r:id="rId53"/>
      <p: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slide" Target="slides/slide42.xml"/><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OldStandardTT-bold.fntdata"/><Relationship Id="rId52" Type="http://schemas.openxmlformats.org/officeDocument/2006/relationships/font" Target="fonts/OldStandardTT-regular.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bdd3589af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bdd3589af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dd3589af9_7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bdd3589af9_7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bdd3589af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bdd3589af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bdd3589af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bdd3589af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Servidores - solicitam o transporte</a:t>
            </a:r>
            <a:endParaRPr/>
          </a:p>
          <a:p>
            <a:pPr indent="0" lvl="0" marL="0" rtl="0" algn="l">
              <a:spcBef>
                <a:spcPts val="0"/>
              </a:spcBef>
              <a:spcAft>
                <a:spcPts val="0"/>
              </a:spcAft>
              <a:buNone/>
            </a:pPr>
            <a:r>
              <a:rPr lang="pt-BR"/>
              <a:t>Motoristas - são contratados para conduzir o veículo</a:t>
            </a:r>
            <a:endParaRPr/>
          </a:p>
          <a:p>
            <a:pPr indent="0" lvl="0" marL="0" rtl="0" algn="l">
              <a:spcBef>
                <a:spcPts val="0"/>
              </a:spcBef>
              <a:spcAft>
                <a:spcPts val="0"/>
              </a:spcAft>
              <a:buNone/>
            </a:pPr>
            <a:r>
              <a:rPr lang="pt-BR"/>
              <a:t>Gestão do IFPE - a coordenação de transporte, que tem como interesse diminuir o custo de combustível e de contratações e também a requisição de transporte logístico de materiais e documentações</a:t>
            </a:r>
            <a:endParaRPr/>
          </a:p>
          <a:p>
            <a:pPr indent="0" lvl="0" marL="0" rtl="0" algn="l">
              <a:spcBef>
                <a:spcPts val="0"/>
              </a:spcBef>
              <a:spcAft>
                <a:spcPts val="0"/>
              </a:spcAft>
              <a:buNone/>
            </a:pPr>
            <a:r>
              <a:rPr lang="pt-BR"/>
              <a:t>Alunos - pois fazem visitas técnicas e dependem de decisões tomadas em reuniões que dependem do transporte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bdd3589af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bdd3589af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bdd3589af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bdd3589af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bdd3589af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bdd3589af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bdd3589af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bdd3589af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 plataforma deverá ser altamente funcional e simples, de modo digital para facilitar a comunicação entre os diferentes campi, os veículos poderão ser compartilhados seguindo uma mesma rota ou por meio de cessão para ajudar outro campus, facilitar a colaboração entre os servidores e as coordenações de transporte do IFPE para que o compartilhamento de veículos satisfaça a problemática, Dessa forma, visamos a otimização dos custos e do uso de transporte por meio de maior visibilidade de veículos e suas rotas e facilitação de comunicação entre os campi, com isso o auxílio de custo, com base nos orçamentos dos campi pode ser um bom estímulo para o compartilhamento.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bdd3589af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bdd3589af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bdd3589af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bdd3589af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valor agregado à plataforma de transporte pretende maior...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bdd3589af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bdd3589af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dd3589af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bdd3589af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 primeira e mais simples sugestão, de uma plataforma que integre o compartilhamento de veículos, e ela recebeu o seguinte feedback….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dd3589af9_7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dd3589af9_7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bdd3589af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bdd3589af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dd3589af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dd3589af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 isso, para o planejamento do projeto, elencamos as principais vertentes de atividades: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bdd3589af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bdd3589af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bdd3589af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bdd3589af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Inicialmente realizamos as coletas dos dados,informações e </a:t>
            </a:r>
            <a:r>
              <a:rPr lang="pt-BR"/>
              <a:t>processos</a:t>
            </a:r>
            <a:r>
              <a:rPr lang="pt-BR"/>
              <a:t> do problema e de seu contexto, para </a:t>
            </a:r>
            <a:r>
              <a:rPr lang="pt-BR"/>
              <a:t>melhor</a:t>
            </a:r>
            <a:r>
              <a:rPr lang="pt-BR"/>
              <a:t> entendimento, e dpois mapeamos os processos para buscar aprimoramento e </a:t>
            </a:r>
            <a:r>
              <a:rPr lang="pt-BR"/>
              <a:t>melhoria</a:t>
            </a:r>
            <a:r>
              <a:rPr lang="pt-BR"/>
              <a:t> de </a:t>
            </a:r>
            <a:r>
              <a:rPr lang="pt-BR"/>
              <a:t>eficácia</a:t>
            </a:r>
            <a:r>
              <a:rPr lang="pt-BR"/>
              <a:t>. Essas coletas foram feitas a </a:t>
            </a:r>
            <a:r>
              <a:rPr lang="pt-BR"/>
              <a:t>partir</a:t>
            </a:r>
            <a:r>
              <a:rPr lang="pt-BR"/>
              <a:t> de uma meet com jobson,um dos </a:t>
            </a:r>
            <a:r>
              <a:rPr lang="pt-BR"/>
              <a:t>usuários</a:t>
            </a:r>
            <a:r>
              <a:rPr lang="pt-BR"/>
              <a:t> finais do projeto e um </a:t>
            </a:r>
            <a:r>
              <a:rPr lang="pt-BR"/>
              <a:t>questionário</a:t>
            </a:r>
            <a:r>
              <a:rPr lang="pt-BR"/>
              <a:t>, no qual marcos respondeu algumas </a:t>
            </a:r>
            <a:r>
              <a:rPr lang="pt-BR"/>
              <a:t>dúvidas</a:t>
            </a:r>
            <a:r>
              <a:rPr lang="pt-BR"/>
              <a:t> pertinentes da conversa com jobsom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dd3589af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dd3589af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bdd3589af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bdd3589af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 base nas poucas semanas que tivemos contato em grupo e com o projeto, optamos pelos seguintes métodos de gerenciamento, o diálogo com o cliente será a cada dois dias, para facilitar a comunicação será flexível. Vamos manter contato com o usuário final do sistema, para que possamos validar nossa solução. Faremos o planejamento semanal de sprint numa reunião semanal na segunda feira, por 2h, falaremos da semana anterior, da semana por vir e de decisões coletivas a serem tomadas. Os integrantes poderão se reunir livremente, não necessariamente com a presença do gerente de projetos, pois queremos que a documentação de controle </a:t>
            </a:r>
            <a:r>
              <a:rPr lang="pt-BR"/>
              <a:t>permite</a:t>
            </a:r>
            <a:r>
              <a:rPr lang="pt-BR"/>
              <a:t> essa flexibilidade. Uti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bdd3589af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bdd3589af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dd3589af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dd3589af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 pouco tempo em que ficamos juntos, sentimos um bom entendimento acerca do contexto e dos problemas relacionados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dd3589af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bdd3589af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bdbca1647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bdbca1647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Mas também não conseguimos nos encontrar devidamente com Marco, e por falta de descentralização da informação e conhecimento do problema, tivemos dificuldade em visualizar o que devemos fazer, ficando com os seguintes problemas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bdd3589af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bdd3589af9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dd3589af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dd3589af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Planejamos utilizar um esquema de rodízio para o </a:t>
            </a:r>
            <a:r>
              <a:rPr lang="pt-BR"/>
              <a:t>gerência</a:t>
            </a:r>
            <a:r>
              <a:rPr lang="pt-BR"/>
              <a:t> de projeto, já que vários membros ficaram com essa vontade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bdd3589af9_7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bdd3589af9_7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1000">
                <a:solidFill>
                  <a:srgbClr val="3C4043"/>
                </a:solidFill>
                <a:latin typeface="Roboto"/>
                <a:ea typeface="Roboto"/>
                <a:cs typeface="Roboto"/>
                <a:sym typeface="Roboto"/>
              </a:rPr>
              <a:t>Tivemos alguns problemas para agendarmos uma reunião com o Marco, na primeira ela não confirmou a presença, e na segunda vez ele confundiu os horários, mas quando chegou, a energia dele caiu, quando voltou era hora dele se reunir com outro grupo. Nossas interações foram baseadas mais em emails e um questionário e com Jobson (usuário direto do problema que tratamos). Com isso o time está meio inseguro em como apresentar esse aspecto.</a:t>
            </a:r>
            <a:endParaRPr sz="1000">
              <a:solidFill>
                <a:srgbClr val="3C4043"/>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bdd3589af9_1_5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bdd3589af9_1_5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bdd3589af9_1_5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bdd3589af9_1_5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Marcar com </a:t>
            </a:r>
            <a:r>
              <a:rPr lang="pt-BR"/>
              <a:t>antecedência</a:t>
            </a:r>
            <a:r>
              <a:rPr lang="pt-BR"/>
              <a:t>, manter pontualidade, estando sempre com escuta ativa com o cliente e prestando atenção aos detalhes de comunicação</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bdd3589af9_1_5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bdd3589af9_1_5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bdd3589af9_1_5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bdd3589af9_1_5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problema é contornado por soluções informais e ainda descentralizadas por campi diversos, atendendo suas demandas conforme forem apresentadas. Conseguimos uma conversa inicial com um dos usuários que ocasionalmente faz uso do compartilhamento de veículos e vimos como a solução é pouco integrada de fato. Devido aos problemas citados anteriormente não conseguimos uma reunião de fato com o cliente, mas conseguimos um questionário para avaliação inicial do problema, e com isso foram elencados algumas das informações e dos dados necessários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bdd3589af9_1_5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bdd3589af9_1_5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bdd3589af9_1_5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bdd3589af9_1_5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Os principais pontos que elencamos foram…………(ler pontos acima)………….. para que dessa forma consigamos manter uma boa comunicação com o cliente. Dessa forma nós tentamos ser mais pontuais em relação ao tempo estipulado e combinado.</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bdd3589af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bdd3589af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bdd3589af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bdd3589af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As primeiras soluções que consideramos são baseadas na integração de uma plataforma que consiga mostrar as rotas otimizadas para os usuário, junto com os horários que os transporte se locomove por aquele local e a quantidade de vagas restantes.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bdd3589af9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bdd3589af9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bdd3589af9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bdd3589af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Nas reuniões fizemos várias perguntas as quais deram um norte para fazer esse planejamento e nisso planejamos ter uma boa relação com o cliente, sendo pontual e ouvindo e anotando todos os detalhes do problema que o cliente apresenta e enquanto isso as outras pessoas ficam tirando as </a:t>
            </a:r>
            <a:r>
              <a:rPr lang="pt-BR"/>
              <a:t>dúvidas</a:t>
            </a:r>
            <a:r>
              <a:rPr lang="pt-BR"/>
              <a:t> e fazendo questionamentos conforme a conversa</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bdd3589af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bdd3589af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bdd3589af9_1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bdd3589af9_1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bdd3589af9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bdd3589af9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dd3589af9_1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dd3589af9_1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bdd3589af9_1_5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bdd3589af9_1_5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github.com/alnp/Equipe5-SGE-PGP-GPN" TargetMode="External"/><Relationship Id="rId4" Type="http://schemas.openxmlformats.org/officeDocument/2006/relationships/hyperlink" Target="https://trello.com/b/dkaNpMF2/gest%C3%A3o-de-projeto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67300" y="0"/>
            <a:ext cx="8009400" cy="155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lang="pt-BR" sz="3480">
                <a:solidFill>
                  <a:srgbClr val="EFEFEF"/>
                </a:solidFill>
              </a:rPr>
              <a:t>Otimização do uso do transporte entre os campi do IFPE</a:t>
            </a:r>
            <a:endParaRPr sz="3480">
              <a:solidFill>
                <a:srgbClr val="EFEFEF"/>
              </a:solidFill>
            </a:endParaRPr>
          </a:p>
        </p:txBody>
      </p:sp>
      <p:sp>
        <p:nvSpPr>
          <p:cNvPr id="60" name="Google Shape;60;p13"/>
          <p:cNvSpPr txBox="1"/>
          <p:nvPr>
            <p:ph idx="1" type="subTitle"/>
          </p:nvPr>
        </p:nvSpPr>
        <p:spPr>
          <a:xfrm>
            <a:off x="1364350" y="2765075"/>
            <a:ext cx="3263700" cy="1877700"/>
          </a:xfrm>
          <a:prstGeom prst="rect">
            <a:avLst/>
          </a:prstGeom>
        </p:spPr>
        <p:txBody>
          <a:bodyPr anchorCtr="0" anchor="t" bIns="91425" lIns="91425" spcFirstLastPara="1" rIns="91425" wrap="square" tIns="91425">
            <a:normAutofit fontScale="55000" lnSpcReduction="10000"/>
          </a:bodyPr>
          <a:lstStyle/>
          <a:p>
            <a:pPr indent="0" lvl="0" marL="0" rtl="0" algn="l">
              <a:lnSpc>
                <a:spcPct val="150000"/>
              </a:lnSpc>
              <a:spcBef>
                <a:spcPts val="0"/>
              </a:spcBef>
              <a:spcAft>
                <a:spcPts val="0"/>
              </a:spcAft>
              <a:buNone/>
            </a:pPr>
            <a:r>
              <a:rPr lang="pt-BR">
                <a:solidFill>
                  <a:srgbClr val="CCCCCC"/>
                </a:solidFill>
              </a:rPr>
              <a:t>Alessandra Luana Nascimento Pereira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Matheus Antunes Macedo</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Milton José Vieira Souto Maior</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Pedro Manoel Farias Sena de Lima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Rafael Dias de Mendonça Mesquita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Vítor Lopes Mourato de Sá</a:t>
            </a:r>
            <a:endParaRPr>
              <a:solidFill>
                <a:srgbClr val="CCCCCC"/>
              </a:solidFill>
            </a:endParaRPr>
          </a:p>
        </p:txBody>
      </p:sp>
      <p:sp>
        <p:nvSpPr>
          <p:cNvPr id="61" name="Google Shape;61;p13"/>
          <p:cNvSpPr txBox="1"/>
          <p:nvPr/>
        </p:nvSpPr>
        <p:spPr>
          <a:xfrm>
            <a:off x="2891200" y="2051100"/>
            <a:ext cx="3647400" cy="4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pt-BR" sz="1550" u="sng">
                <a:solidFill>
                  <a:srgbClr val="CCCCCC"/>
                </a:solidFill>
                <a:latin typeface="Roboto"/>
                <a:ea typeface="Roboto"/>
                <a:cs typeface="Roboto"/>
                <a:sym typeface="Roboto"/>
              </a:rPr>
              <a:t>Kick-off: Termo de Abertura de Projeto</a:t>
            </a:r>
            <a:endParaRPr i="1" sz="1900" u="sng">
              <a:solidFill>
                <a:srgbClr val="CCCCCC"/>
              </a:solidFill>
              <a:latin typeface="Old Standard TT"/>
              <a:ea typeface="Old Standard TT"/>
              <a:cs typeface="Old Standard TT"/>
              <a:sym typeface="Old Standard T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65" name="Shape 65"/>
        <p:cNvGrpSpPr/>
        <p:nvPr/>
      </p:nvGrpSpPr>
      <p:grpSpPr>
        <a:xfrm>
          <a:off x="0" y="0"/>
          <a:ext cx="0" cy="0"/>
          <a:chOff x="0" y="0"/>
          <a:chExt cx="0" cy="0"/>
        </a:xfrm>
      </p:grpSpPr>
      <p:sp>
        <p:nvSpPr>
          <p:cNvPr id="66" name="Google Shape;66;p14"/>
          <p:cNvSpPr txBox="1"/>
          <p:nvPr>
            <p:ph type="title"/>
          </p:nvPr>
        </p:nvSpPr>
        <p:spPr>
          <a:xfrm>
            <a:off x="189875" y="1905150"/>
            <a:ext cx="4045200" cy="1333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t-BR">
                <a:solidFill>
                  <a:schemeClr val="accent4"/>
                </a:solidFill>
              </a:rPr>
              <a:t>Tópicos Abordados</a:t>
            </a:r>
            <a:endParaRPr>
              <a:solidFill>
                <a:schemeClr val="accent4"/>
              </a:solidFill>
            </a:endParaRPr>
          </a:p>
        </p:txBody>
      </p:sp>
      <p:sp>
        <p:nvSpPr>
          <p:cNvPr id="67" name="Google Shape;67;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Contexto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Problema</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Solução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Valor Agregado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Avaliação de Proposta</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Planejamento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Realizado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Metodologia de Gerenciamento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Pontos Fortes</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Pontos de Melhoria</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Equipe</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Desenvoltura nas Interações</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Entendimento do Problema</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Clareza na Apresentação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Qualidade das Soluções</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Nível de Planejamento</a:t>
            </a:r>
            <a:endParaRPr sz="1400">
              <a:solidFill>
                <a:srgbClr val="CCCCCC"/>
              </a:solidFill>
              <a:latin typeface="Arial"/>
              <a:ea typeface="Arial"/>
              <a:cs typeface="Arial"/>
              <a:sym typeface="Arial"/>
            </a:endParaRPr>
          </a:p>
          <a:p>
            <a:pPr indent="-279400" lvl="0" marL="457200" rtl="0" algn="l">
              <a:lnSpc>
                <a:spcPct val="95000"/>
              </a:lnSpc>
              <a:spcBef>
                <a:spcPts val="0"/>
              </a:spcBef>
              <a:spcAft>
                <a:spcPts val="0"/>
              </a:spcAft>
              <a:buClr>
                <a:srgbClr val="CCCCCC"/>
              </a:buClr>
              <a:buSzPts val="800"/>
              <a:buFont typeface="Arial"/>
              <a:buChar char="●"/>
            </a:pPr>
            <a:r>
              <a:rPr lang="pt-BR" sz="1400">
                <a:solidFill>
                  <a:srgbClr val="CCCCCC"/>
                </a:solidFill>
                <a:latin typeface="Arial"/>
                <a:ea typeface="Arial"/>
                <a:cs typeface="Arial"/>
                <a:sym typeface="Arial"/>
              </a:rPr>
              <a:t>Dúvidas</a:t>
            </a:r>
            <a:endParaRPr sz="1400">
              <a:solidFill>
                <a:srgbClr val="CCCCCC"/>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031200" y="1906050"/>
            <a:ext cx="3081600" cy="1331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Resultado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516450" y="2208600"/>
            <a:ext cx="2111100" cy="726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pt-BR" sz="3800">
                <a:solidFill>
                  <a:srgbClr val="EFEFEF"/>
                </a:solidFill>
              </a:rPr>
              <a:t>Contexto</a:t>
            </a:r>
            <a:endParaRPr sz="4000">
              <a:solidFill>
                <a:srgbClr val="EFEFEF"/>
              </a:solidFill>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673100" y="318950"/>
            <a:ext cx="22434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4200">
                <a:solidFill>
                  <a:schemeClr val="dk2"/>
                </a:solidFill>
              </a:rPr>
              <a:t>Contexto</a:t>
            </a:r>
            <a:endParaRPr>
              <a:solidFill>
                <a:schemeClr val="dk2"/>
              </a:solidFill>
              <a:latin typeface="Arial"/>
              <a:ea typeface="Arial"/>
              <a:cs typeface="Arial"/>
              <a:sym typeface="Arial"/>
            </a:endParaRPr>
          </a:p>
        </p:txBody>
      </p:sp>
      <p:sp>
        <p:nvSpPr>
          <p:cNvPr id="83" name="Google Shape;83;p17"/>
          <p:cNvSpPr txBox="1"/>
          <p:nvPr>
            <p:ph idx="1" type="body"/>
          </p:nvPr>
        </p:nvSpPr>
        <p:spPr>
          <a:xfrm>
            <a:off x="311700" y="1810350"/>
            <a:ext cx="8520600" cy="2678100"/>
          </a:xfrm>
          <a:prstGeom prst="rect">
            <a:avLst/>
          </a:prstGeom>
        </p:spPr>
        <p:txBody>
          <a:bodyPr anchorCtr="0" anchor="t" bIns="91425" lIns="91425" spcFirstLastPara="1" rIns="91425" wrap="square" tIns="91425">
            <a:normAutofit/>
          </a:bodyPr>
          <a:lstStyle/>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IFPE, Coordenações de Transporte</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Stakeholders: Servidores, Motoristas, Gestão do IFPE e Alunos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Realidade atual: pouco compartilhamento de veículos, maior custo de contratações e de combustível</a:t>
            </a:r>
            <a:endParaRPr sz="1500">
              <a:latin typeface="Arial"/>
              <a:ea typeface="Arial"/>
              <a:cs typeface="Arial"/>
              <a:sym typeface="Arial"/>
            </a:endParaRPr>
          </a:p>
        </p:txBody>
      </p:sp>
      <p:cxnSp>
        <p:nvCxnSpPr>
          <p:cNvPr id="84" name="Google Shape;84;p17"/>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551100" y="2137050"/>
            <a:ext cx="2041800" cy="869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sz="3800">
                <a:solidFill>
                  <a:srgbClr val="EFEFEF"/>
                </a:solidFill>
              </a:rPr>
              <a:t>Problema</a:t>
            </a:r>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315925"/>
            <a:ext cx="5932800" cy="831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sz="3800">
                <a:solidFill>
                  <a:schemeClr val="dk2"/>
                </a:solidFill>
              </a:rPr>
              <a:t>Problema - Justificativas</a:t>
            </a:r>
            <a:endParaRPr sz="2600"/>
          </a:p>
        </p:txBody>
      </p:sp>
      <p:sp>
        <p:nvSpPr>
          <p:cNvPr id="95" name="Google Shape;95;p19"/>
          <p:cNvSpPr txBox="1"/>
          <p:nvPr>
            <p:ph idx="1" type="body"/>
          </p:nvPr>
        </p:nvSpPr>
        <p:spPr>
          <a:xfrm>
            <a:off x="252875" y="1586625"/>
            <a:ext cx="8520600" cy="3354000"/>
          </a:xfrm>
          <a:prstGeom prst="rect">
            <a:avLst/>
          </a:prstGeom>
        </p:spPr>
        <p:txBody>
          <a:bodyPr anchorCtr="0" anchor="t" bIns="91425" lIns="91425" spcFirstLastPara="1" rIns="91425" wrap="square" tIns="91425">
            <a:normAutofit/>
          </a:bodyPr>
          <a:lstStyle/>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Grande autonomia que gera baixa otimização do transporte, não havendo assim um grande compartilhamento de veículos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Carros com apenas um passageiro em reuniões, fica visível que caronas poderiam ser realizadas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Entrega de materiais e documentação de mesma origem em veículos separados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Transporte de materiais e documentação</a:t>
            </a:r>
            <a:endParaRPr sz="1500">
              <a:latin typeface="Arial"/>
              <a:ea typeface="Arial"/>
              <a:cs typeface="Arial"/>
              <a:sym typeface="Arial"/>
            </a:endParaRPr>
          </a:p>
        </p:txBody>
      </p:sp>
      <p:cxnSp>
        <p:nvCxnSpPr>
          <p:cNvPr id="96" name="Google Shape;96;p19"/>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3697050" y="2187450"/>
            <a:ext cx="1976100" cy="7686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sz="3800">
                <a:solidFill>
                  <a:srgbClr val="EFEFEF"/>
                </a:solidFill>
              </a:rPr>
              <a:t>Solução</a:t>
            </a:r>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555300" y="445025"/>
            <a:ext cx="40167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Solução - Objetivos</a:t>
            </a:r>
            <a:endParaRPr/>
          </a:p>
        </p:txBody>
      </p:sp>
      <p:sp>
        <p:nvSpPr>
          <p:cNvPr id="107" name="Google Shape;107;p21"/>
          <p:cNvSpPr txBox="1"/>
          <p:nvPr>
            <p:ph idx="1" type="body"/>
          </p:nvPr>
        </p:nvSpPr>
        <p:spPr>
          <a:xfrm>
            <a:off x="324300" y="1688500"/>
            <a:ext cx="7962600" cy="2998500"/>
          </a:xfrm>
          <a:prstGeom prst="rect">
            <a:avLst/>
          </a:prstGeom>
        </p:spPr>
        <p:txBody>
          <a:bodyPr anchorCtr="0" anchor="t" bIns="91425" lIns="91425" spcFirstLastPara="1" rIns="91425" wrap="square" tIns="91425">
            <a:normAutofit/>
          </a:bodyPr>
          <a:lstStyle/>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Plataforma funcional e digital</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Maior integração entre dos campi e seu uso de veículos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Colaboração entre servidores e coordenações de transporte do IFPE</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Otimização, Visibilidade, Comunicação e Auxílio de Custo</a:t>
            </a:r>
            <a:endParaRPr sz="1500">
              <a:latin typeface="Arial"/>
              <a:ea typeface="Arial"/>
              <a:cs typeface="Arial"/>
              <a:sym typeface="Arial"/>
            </a:endParaRPr>
          </a:p>
        </p:txBody>
      </p:sp>
      <p:cxnSp>
        <p:nvCxnSpPr>
          <p:cNvPr id="108" name="Google Shape;108;p21"/>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2" name="Shape 112"/>
        <p:cNvGrpSpPr/>
        <p:nvPr/>
      </p:nvGrpSpPr>
      <p:grpSpPr>
        <a:xfrm>
          <a:off x="0" y="0"/>
          <a:ext cx="0" cy="0"/>
          <a:chOff x="0" y="0"/>
          <a:chExt cx="0" cy="0"/>
        </a:xfrm>
      </p:grpSpPr>
      <p:sp>
        <p:nvSpPr>
          <p:cNvPr id="113" name="Google Shape;113;p22"/>
          <p:cNvSpPr txBox="1"/>
          <p:nvPr>
            <p:ph type="title"/>
          </p:nvPr>
        </p:nvSpPr>
        <p:spPr>
          <a:xfrm>
            <a:off x="2460750" y="2208600"/>
            <a:ext cx="4222500" cy="72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pt-BR" sz="3800">
                <a:solidFill>
                  <a:srgbClr val="EFEFEF"/>
                </a:solidFill>
              </a:rPr>
              <a:t>Proposta de Valor</a:t>
            </a:r>
            <a:endParaRPr sz="4000">
              <a:solidFill>
                <a:srgbClr val="EFEFEF"/>
              </a:solidFill>
            </a:endParaRPr>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673100" y="445025"/>
            <a:ext cx="47484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Proposta de Valor</a:t>
            </a:r>
            <a:endParaRPr/>
          </a:p>
        </p:txBody>
      </p:sp>
      <p:sp>
        <p:nvSpPr>
          <p:cNvPr id="119" name="Google Shape;119;p23"/>
          <p:cNvSpPr txBox="1"/>
          <p:nvPr>
            <p:ph idx="1" type="body"/>
          </p:nvPr>
        </p:nvSpPr>
        <p:spPr>
          <a:xfrm>
            <a:off x="324300" y="1415325"/>
            <a:ext cx="8520600" cy="33972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Agilidade e otimização de locomoção entre os campi</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Economia no orçamento de combustível</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Economia no orçamento de contratos de motoristas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Evitar escassez de veículos para servidores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Maior facilidade na gestão coletiva de veículos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Sistema de compartilhamento dos veículos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Redução custo </a:t>
            </a:r>
            <a:endParaRPr sz="1500">
              <a:latin typeface="Arial"/>
              <a:ea typeface="Arial"/>
              <a:cs typeface="Arial"/>
              <a:sym typeface="Arial"/>
            </a:endParaRPr>
          </a:p>
        </p:txBody>
      </p:sp>
      <p:cxnSp>
        <p:nvCxnSpPr>
          <p:cNvPr id="120" name="Google Shape;120;p23"/>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4" name="Shape 124"/>
        <p:cNvGrpSpPr/>
        <p:nvPr/>
      </p:nvGrpSpPr>
      <p:grpSpPr>
        <a:xfrm>
          <a:off x="0" y="0"/>
          <a:ext cx="0" cy="0"/>
          <a:chOff x="0" y="0"/>
          <a:chExt cx="0" cy="0"/>
        </a:xfrm>
      </p:grpSpPr>
      <p:sp>
        <p:nvSpPr>
          <p:cNvPr id="125" name="Google Shape;125;p24"/>
          <p:cNvSpPr txBox="1"/>
          <p:nvPr>
            <p:ph type="title"/>
          </p:nvPr>
        </p:nvSpPr>
        <p:spPr>
          <a:xfrm>
            <a:off x="2149200" y="1876500"/>
            <a:ext cx="4845600" cy="139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3800">
                <a:solidFill>
                  <a:srgbClr val="EFEFEF"/>
                </a:solidFill>
              </a:rPr>
              <a:t>Avaliação de Proposta</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44370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Avaliação de Proposta</a:t>
            </a:r>
            <a:endParaRPr/>
          </a:p>
        </p:txBody>
      </p:sp>
      <p:sp>
        <p:nvSpPr>
          <p:cNvPr id="131" name="Google Shape;131;p25"/>
          <p:cNvSpPr txBox="1"/>
          <p:nvPr>
            <p:ph idx="1" type="body"/>
          </p:nvPr>
        </p:nvSpPr>
        <p:spPr>
          <a:xfrm>
            <a:off x="311700" y="1785125"/>
            <a:ext cx="8520600" cy="1955400"/>
          </a:xfrm>
          <a:prstGeom prst="rect">
            <a:avLst/>
          </a:prstGeom>
        </p:spPr>
        <p:txBody>
          <a:bodyPr anchorCtr="0" anchor="t" bIns="91425" lIns="91425" spcFirstLastPara="1" rIns="91425" wrap="square" tIns="91425">
            <a:normAutofit/>
          </a:bodyPr>
          <a:lstStyle/>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A ideia inicial apresentada recebeu um feedback para nos atentarmos à possíveis conflitos que podem surgir entre campi</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Os conflitos estão relacionados à </a:t>
            </a:r>
            <a:r>
              <a:rPr lang="pt-BR" sz="1500">
                <a:latin typeface="Arial"/>
                <a:ea typeface="Arial"/>
                <a:cs typeface="Arial"/>
                <a:sym typeface="Arial"/>
              </a:rPr>
              <a:t>responsabilidade</a:t>
            </a:r>
            <a:r>
              <a:rPr lang="pt-BR" sz="1500">
                <a:latin typeface="Arial"/>
                <a:ea typeface="Arial"/>
                <a:cs typeface="Arial"/>
                <a:sym typeface="Arial"/>
              </a:rPr>
              <a:t> de arcar com custos de manutenção, por exemplo</a:t>
            </a:r>
            <a:endParaRPr sz="1500">
              <a:latin typeface="Arial"/>
              <a:ea typeface="Arial"/>
              <a:cs typeface="Arial"/>
              <a:sym typeface="Arial"/>
            </a:endParaRPr>
          </a:p>
        </p:txBody>
      </p:sp>
      <p:cxnSp>
        <p:nvCxnSpPr>
          <p:cNvPr id="132" name="Google Shape;132;p25"/>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23600" y="2048850"/>
            <a:ext cx="2896800" cy="1045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a:t>Processo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1" name="Shape 141"/>
        <p:cNvGrpSpPr/>
        <p:nvPr/>
      </p:nvGrpSpPr>
      <p:grpSpPr>
        <a:xfrm>
          <a:off x="0" y="0"/>
          <a:ext cx="0" cy="0"/>
          <a:chOff x="0" y="0"/>
          <a:chExt cx="0" cy="0"/>
        </a:xfrm>
      </p:grpSpPr>
      <p:sp>
        <p:nvSpPr>
          <p:cNvPr id="142" name="Google Shape;142;p27"/>
          <p:cNvSpPr txBox="1"/>
          <p:nvPr>
            <p:ph type="title"/>
          </p:nvPr>
        </p:nvSpPr>
        <p:spPr>
          <a:xfrm>
            <a:off x="3034050" y="2116050"/>
            <a:ext cx="3075900" cy="91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3800">
                <a:solidFill>
                  <a:srgbClr val="EFEFEF"/>
                </a:solidFill>
              </a:rPr>
              <a:t>Planejamento</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542800" y="299100"/>
            <a:ext cx="3222300" cy="83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3800">
                <a:solidFill>
                  <a:schemeClr val="dk2"/>
                </a:solidFill>
              </a:rPr>
              <a:t>Planejamento</a:t>
            </a:r>
            <a:endParaRPr/>
          </a:p>
        </p:txBody>
      </p:sp>
      <p:sp>
        <p:nvSpPr>
          <p:cNvPr id="148" name="Google Shape;148;p28"/>
          <p:cNvSpPr txBox="1"/>
          <p:nvPr>
            <p:ph idx="1" type="body"/>
          </p:nvPr>
        </p:nvSpPr>
        <p:spPr>
          <a:xfrm>
            <a:off x="269675" y="1440550"/>
            <a:ext cx="8520600" cy="3397200"/>
          </a:xfrm>
          <a:prstGeom prst="rect">
            <a:avLst/>
          </a:prstGeom>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Coletar dados e informações acerca dos veículos, rotas, orçamento e  processos</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Descobrir calendário coletivo e verificar viabilidade de integração com o sistema</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Consenso de solução com cliente e usuários</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Mapear processo principal (de solicitação de veículo) e relacionais do problema</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Criar MVP</a:t>
            </a:r>
            <a:endParaRPr sz="1500">
              <a:latin typeface="Arial"/>
              <a:ea typeface="Arial"/>
              <a:cs typeface="Arial"/>
              <a:sym typeface="Arial"/>
            </a:endParaRPr>
          </a:p>
          <a:p>
            <a:pPr indent="-323850" lvl="0" marL="457200" rtl="0" algn="l">
              <a:lnSpc>
                <a:spcPct val="200000"/>
              </a:lnSpc>
              <a:spcBef>
                <a:spcPts val="0"/>
              </a:spcBef>
              <a:spcAft>
                <a:spcPts val="0"/>
              </a:spcAft>
              <a:buSzPts val="1500"/>
              <a:buFont typeface="Arial"/>
              <a:buChar char="●"/>
            </a:pPr>
            <a:r>
              <a:rPr lang="pt-BR" sz="1500">
                <a:latin typeface="Arial"/>
                <a:ea typeface="Arial"/>
                <a:cs typeface="Arial"/>
                <a:sym typeface="Arial"/>
              </a:rPr>
              <a:t>Validar MVP</a:t>
            </a:r>
            <a:endParaRPr sz="1500">
              <a:latin typeface="Arial"/>
              <a:ea typeface="Arial"/>
              <a:cs typeface="Arial"/>
              <a:sym typeface="Arial"/>
            </a:endParaRPr>
          </a:p>
        </p:txBody>
      </p:sp>
      <p:cxnSp>
        <p:nvCxnSpPr>
          <p:cNvPr id="149" name="Google Shape;149;p28"/>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53" name="Shape 153"/>
        <p:cNvGrpSpPr/>
        <p:nvPr/>
      </p:nvGrpSpPr>
      <p:grpSpPr>
        <a:xfrm>
          <a:off x="0" y="0"/>
          <a:ext cx="0" cy="0"/>
          <a:chOff x="0" y="0"/>
          <a:chExt cx="0" cy="0"/>
        </a:xfrm>
      </p:grpSpPr>
      <p:sp>
        <p:nvSpPr>
          <p:cNvPr id="154" name="Google Shape;154;p29"/>
          <p:cNvSpPr txBox="1"/>
          <p:nvPr>
            <p:ph type="title"/>
          </p:nvPr>
        </p:nvSpPr>
        <p:spPr>
          <a:xfrm>
            <a:off x="3424350" y="2158050"/>
            <a:ext cx="2295300" cy="82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3800">
                <a:solidFill>
                  <a:srgbClr val="EFEFEF"/>
                </a:solidFill>
              </a:rPr>
              <a:t>Realizado</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488200" y="436625"/>
            <a:ext cx="21342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Realizado</a:t>
            </a:r>
            <a:endParaRPr sz="3800">
              <a:solidFill>
                <a:schemeClr val="dk2"/>
              </a:solidFill>
            </a:endParaRPr>
          </a:p>
        </p:txBody>
      </p:sp>
      <p:sp>
        <p:nvSpPr>
          <p:cNvPr id="160" name="Google Shape;160;p30"/>
          <p:cNvSpPr txBox="1"/>
          <p:nvPr>
            <p:ph idx="1" type="body"/>
          </p:nvPr>
        </p:nvSpPr>
        <p:spPr>
          <a:xfrm>
            <a:off x="311700" y="1549800"/>
            <a:ext cx="8520600" cy="2963700"/>
          </a:xfrm>
          <a:prstGeom prst="rect">
            <a:avLst/>
          </a:prstGeom>
        </p:spPr>
        <p:txBody>
          <a:bodyPr anchorCtr="0" anchor="t" bIns="91425" lIns="91425" spcFirstLastPara="1" rIns="91425" wrap="square" tIns="91425">
            <a:normAutofit/>
          </a:bodyPr>
          <a:lstStyle/>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Coleta de dados, informações e processos</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Início do mapeamento de processos</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Conversa inicial com um usuário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Questionário para o cliente</a:t>
            </a:r>
            <a:endParaRPr sz="1500">
              <a:latin typeface="Arial"/>
              <a:ea typeface="Arial"/>
              <a:cs typeface="Arial"/>
              <a:sym typeface="Arial"/>
            </a:endParaRPr>
          </a:p>
        </p:txBody>
      </p:sp>
      <p:cxnSp>
        <p:nvCxnSpPr>
          <p:cNvPr id="161" name="Google Shape;161;p30"/>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5" name="Shape 165"/>
        <p:cNvGrpSpPr/>
        <p:nvPr/>
      </p:nvGrpSpPr>
      <p:grpSpPr>
        <a:xfrm>
          <a:off x="0" y="0"/>
          <a:ext cx="0" cy="0"/>
          <a:chOff x="0" y="0"/>
          <a:chExt cx="0" cy="0"/>
        </a:xfrm>
      </p:grpSpPr>
      <p:sp>
        <p:nvSpPr>
          <p:cNvPr id="166" name="Google Shape;166;p31"/>
          <p:cNvSpPr txBox="1"/>
          <p:nvPr>
            <p:ph type="title"/>
          </p:nvPr>
        </p:nvSpPr>
        <p:spPr>
          <a:xfrm>
            <a:off x="1262700" y="2137050"/>
            <a:ext cx="6618600" cy="86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3800">
                <a:solidFill>
                  <a:srgbClr val="EFEFEF"/>
                </a:solidFill>
              </a:rPr>
              <a:t>Metodologia</a:t>
            </a:r>
            <a:r>
              <a:rPr lang="pt-BR" sz="3800">
                <a:solidFill>
                  <a:srgbClr val="EFEFEF"/>
                </a:solidFill>
              </a:rPr>
              <a:t> de Gerenciamento</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87325" y="445025"/>
            <a:ext cx="60840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Metodologia de Gerenciamento</a:t>
            </a:r>
            <a:endParaRPr/>
          </a:p>
        </p:txBody>
      </p:sp>
      <p:sp>
        <p:nvSpPr>
          <p:cNvPr id="172" name="Google Shape;172;p32"/>
          <p:cNvSpPr txBox="1"/>
          <p:nvPr>
            <p:ph idx="1" type="body"/>
          </p:nvPr>
        </p:nvSpPr>
        <p:spPr>
          <a:xfrm>
            <a:off x="278075" y="1489025"/>
            <a:ext cx="8520600" cy="3377700"/>
          </a:xfrm>
          <a:prstGeom prst="rect">
            <a:avLst/>
          </a:prstGeom>
        </p:spPr>
        <p:txBody>
          <a:bodyPr anchorCtr="0" anchor="t" bIns="91425" lIns="91425" spcFirstLastPara="1" rIns="91425" wrap="square" tIns="91425">
            <a:normAutofit/>
          </a:bodyPr>
          <a:lstStyle/>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Diálogo frequente com o cliente</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Manter contato com usuário final do processo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Planejamento da sprint na segunda-feira</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Reuniões pequenas para integrantes com atividades dependentes em disponibilidade igual</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Utilização de Plataforma para Gerenciamento de Atividades (Trello)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Documentação: Controle (Documento para gestão de conhecimento) e Artefatos e Entregáveis (Github)</a:t>
            </a:r>
            <a:endParaRPr sz="1500">
              <a:latin typeface="Arial"/>
              <a:ea typeface="Arial"/>
              <a:cs typeface="Arial"/>
              <a:sym typeface="Arial"/>
            </a:endParaRPr>
          </a:p>
        </p:txBody>
      </p:sp>
      <p:cxnSp>
        <p:nvCxnSpPr>
          <p:cNvPr id="173" name="Google Shape;173;p32"/>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77" name="Shape 177"/>
        <p:cNvGrpSpPr/>
        <p:nvPr/>
      </p:nvGrpSpPr>
      <p:grpSpPr>
        <a:xfrm>
          <a:off x="0" y="0"/>
          <a:ext cx="0" cy="0"/>
          <a:chOff x="0" y="0"/>
          <a:chExt cx="0" cy="0"/>
        </a:xfrm>
      </p:grpSpPr>
      <p:sp>
        <p:nvSpPr>
          <p:cNvPr id="178" name="Google Shape;178;p33"/>
          <p:cNvSpPr txBox="1"/>
          <p:nvPr>
            <p:ph type="title"/>
          </p:nvPr>
        </p:nvSpPr>
        <p:spPr>
          <a:xfrm>
            <a:off x="3035250" y="2137050"/>
            <a:ext cx="3073500" cy="869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Pontos Fortes</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555425" y="445025"/>
            <a:ext cx="31593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Pontos Fortes</a:t>
            </a:r>
            <a:endParaRPr/>
          </a:p>
        </p:txBody>
      </p:sp>
      <p:sp>
        <p:nvSpPr>
          <p:cNvPr id="184" name="Google Shape;184;p34"/>
          <p:cNvSpPr txBox="1"/>
          <p:nvPr>
            <p:ph idx="1" type="body"/>
          </p:nvPr>
        </p:nvSpPr>
        <p:spPr>
          <a:xfrm>
            <a:off x="269675" y="1801925"/>
            <a:ext cx="8520600" cy="3144900"/>
          </a:xfrm>
          <a:prstGeom prst="rect">
            <a:avLst/>
          </a:prstGeom>
        </p:spPr>
        <p:txBody>
          <a:bodyPr anchorCtr="0" anchor="t" bIns="91425" lIns="91425" spcFirstLastPara="1" rIns="91425" wrap="square" tIns="91425">
            <a:normAutofit/>
          </a:bodyPr>
          <a:lstStyle/>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Bom alinhamento entre o time</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Bom aprendizado para os integrantes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Satisfação geral dos integrantes</a:t>
            </a:r>
            <a:endParaRPr sz="1500">
              <a:latin typeface="Arial"/>
              <a:ea typeface="Arial"/>
              <a:cs typeface="Arial"/>
              <a:sym typeface="Arial"/>
            </a:endParaRPr>
          </a:p>
          <a:p>
            <a:pPr indent="-323850" lvl="0" marL="457200" rtl="0" algn="l">
              <a:lnSpc>
                <a:spcPct val="180000"/>
              </a:lnSpc>
              <a:spcBef>
                <a:spcPts val="0"/>
              </a:spcBef>
              <a:spcAft>
                <a:spcPts val="0"/>
              </a:spcAft>
              <a:buSzPts val="1500"/>
              <a:buFont typeface="Arial"/>
              <a:buChar char="●"/>
            </a:pPr>
            <a:r>
              <a:rPr lang="pt-BR" sz="1500">
                <a:latin typeface="Arial"/>
                <a:ea typeface="Arial"/>
                <a:cs typeface="Arial"/>
                <a:sym typeface="Arial"/>
              </a:rPr>
              <a:t>Boa quantidade e qualidade do input dos membros</a:t>
            </a:r>
            <a:endParaRPr sz="1500">
              <a:latin typeface="Arial"/>
              <a:ea typeface="Arial"/>
              <a:cs typeface="Arial"/>
              <a:sym typeface="Arial"/>
            </a:endParaRPr>
          </a:p>
        </p:txBody>
      </p:sp>
      <p:cxnSp>
        <p:nvCxnSpPr>
          <p:cNvPr id="185" name="Google Shape;185;p34"/>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9" name="Shape 189"/>
        <p:cNvGrpSpPr/>
        <p:nvPr/>
      </p:nvGrpSpPr>
      <p:grpSpPr>
        <a:xfrm>
          <a:off x="0" y="0"/>
          <a:ext cx="0" cy="0"/>
          <a:chOff x="0" y="0"/>
          <a:chExt cx="0" cy="0"/>
        </a:xfrm>
      </p:grpSpPr>
      <p:sp>
        <p:nvSpPr>
          <p:cNvPr id="190" name="Google Shape;190;p35"/>
          <p:cNvSpPr txBox="1"/>
          <p:nvPr>
            <p:ph type="title"/>
          </p:nvPr>
        </p:nvSpPr>
        <p:spPr>
          <a:xfrm>
            <a:off x="2455350" y="2141250"/>
            <a:ext cx="42333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Pontos de Melhoria</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446175" y="445025"/>
            <a:ext cx="38487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Pontos de Melhoria</a:t>
            </a:r>
            <a:endParaRPr/>
          </a:p>
        </p:txBody>
      </p:sp>
      <p:sp>
        <p:nvSpPr>
          <p:cNvPr id="196" name="Google Shape;196;p36"/>
          <p:cNvSpPr txBox="1"/>
          <p:nvPr>
            <p:ph idx="1" type="body"/>
          </p:nvPr>
        </p:nvSpPr>
        <p:spPr>
          <a:xfrm>
            <a:off x="311700" y="1740150"/>
            <a:ext cx="8520600" cy="1983300"/>
          </a:xfrm>
          <a:prstGeom prst="rect">
            <a:avLst/>
          </a:prstGeom>
        </p:spPr>
        <p:txBody>
          <a:bodyPr anchorCtr="0" anchor="t" bIns="91425" lIns="91425" spcFirstLastPara="1" rIns="91425" wrap="square" tIns="91425">
            <a:noAutofit/>
          </a:bodyPr>
          <a:lstStyle/>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Velocidade baixa de produção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A falta em um encontro implica desatualização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Dificuldade em visualizar o que devemos fazer</a:t>
            </a:r>
            <a:endParaRPr sz="1500">
              <a:latin typeface="Arial"/>
              <a:ea typeface="Arial"/>
              <a:cs typeface="Arial"/>
              <a:sym typeface="Arial"/>
            </a:endParaRPr>
          </a:p>
        </p:txBody>
      </p:sp>
      <p:cxnSp>
        <p:nvCxnSpPr>
          <p:cNvPr id="197" name="Google Shape;197;p36"/>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1" name="Shape 201"/>
        <p:cNvGrpSpPr/>
        <p:nvPr/>
      </p:nvGrpSpPr>
      <p:grpSpPr>
        <a:xfrm>
          <a:off x="0" y="0"/>
          <a:ext cx="0" cy="0"/>
          <a:chOff x="0" y="0"/>
          <a:chExt cx="0" cy="0"/>
        </a:xfrm>
      </p:grpSpPr>
      <p:sp>
        <p:nvSpPr>
          <p:cNvPr id="202" name="Google Shape;202;p37"/>
          <p:cNvSpPr txBox="1"/>
          <p:nvPr>
            <p:ph type="title"/>
          </p:nvPr>
        </p:nvSpPr>
        <p:spPr>
          <a:xfrm>
            <a:off x="3741000" y="2141250"/>
            <a:ext cx="16620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Equipe</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446175" y="445025"/>
            <a:ext cx="38487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Equipe</a:t>
            </a:r>
            <a:endParaRPr/>
          </a:p>
        </p:txBody>
      </p:sp>
      <p:sp>
        <p:nvSpPr>
          <p:cNvPr id="208" name="Google Shape;208;p38"/>
          <p:cNvSpPr txBox="1"/>
          <p:nvPr>
            <p:ph idx="1" type="body"/>
          </p:nvPr>
        </p:nvSpPr>
        <p:spPr>
          <a:xfrm>
            <a:off x="311700" y="1863950"/>
            <a:ext cx="8520600" cy="2780100"/>
          </a:xfrm>
          <a:prstGeom prst="rect">
            <a:avLst/>
          </a:prstGeom>
        </p:spPr>
        <p:txBody>
          <a:bodyPr anchorCtr="0" anchor="t" bIns="91425" lIns="91425" spcFirstLastPara="1" rIns="91425" wrap="square" tIns="91425">
            <a:normAutofit/>
          </a:bodyPr>
          <a:lstStyle/>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Gerente de Projeto</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Analista de Processos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Desenvolvedor</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Designer de Interfaces</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Consultor de Negócios</a:t>
            </a:r>
            <a:endParaRPr sz="1500">
              <a:latin typeface="Arial"/>
              <a:ea typeface="Arial"/>
              <a:cs typeface="Arial"/>
              <a:sym typeface="Arial"/>
            </a:endParaRPr>
          </a:p>
        </p:txBody>
      </p:sp>
      <p:cxnSp>
        <p:nvCxnSpPr>
          <p:cNvPr id="209" name="Google Shape;209;p38"/>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1809625" y="2153925"/>
            <a:ext cx="5805000" cy="477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a:t>Satisfação do Cliente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8" name="Shape 218"/>
        <p:cNvGrpSpPr/>
        <p:nvPr/>
      </p:nvGrpSpPr>
      <p:grpSpPr>
        <a:xfrm>
          <a:off x="0" y="0"/>
          <a:ext cx="0" cy="0"/>
          <a:chOff x="0" y="0"/>
          <a:chExt cx="0" cy="0"/>
        </a:xfrm>
      </p:grpSpPr>
      <p:sp>
        <p:nvSpPr>
          <p:cNvPr id="219" name="Google Shape;219;p40"/>
          <p:cNvSpPr txBox="1"/>
          <p:nvPr>
            <p:ph type="title"/>
          </p:nvPr>
        </p:nvSpPr>
        <p:spPr>
          <a:xfrm>
            <a:off x="1827900" y="2141250"/>
            <a:ext cx="5488200" cy="861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sz="3800">
                <a:solidFill>
                  <a:srgbClr val="EFEFEF"/>
                </a:solidFill>
              </a:rPr>
              <a:t>Desenvoltura das Interações</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1"/>
          <p:cNvSpPr txBox="1"/>
          <p:nvPr>
            <p:ph type="title"/>
          </p:nvPr>
        </p:nvSpPr>
        <p:spPr>
          <a:xfrm>
            <a:off x="446175" y="445025"/>
            <a:ext cx="57984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28947"/>
              <a:buFont typeface="Arial"/>
              <a:buNone/>
            </a:pPr>
            <a:r>
              <a:rPr lang="pt-BR" sz="3800">
                <a:solidFill>
                  <a:schemeClr val="dk2"/>
                </a:solidFill>
              </a:rPr>
              <a:t>Desenvoltura das Interações</a:t>
            </a:r>
            <a:endParaRPr sz="4000">
              <a:solidFill>
                <a:schemeClr val="accent1"/>
              </a:solidFill>
            </a:endParaRPr>
          </a:p>
          <a:p>
            <a:pPr indent="0" lvl="0" marL="0" rtl="0" algn="l">
              <a:spcBef>
                <a:spcPts val="0"/>
              </a:spcBef>
              <a:spcAft>
                <a:spcPts val="0"/>
              </a:spcAft>
              <a:buNone/>
            </a:pPr>
            <a:r>
              <a:t/>
            </a:r>
            <a:endParaRPr sz="3800">
              <a:solidFill>
                <a:schemeClr val="dk2"/>
              </a:solidFill>
            </a:endParaRPr>
          </a:p>
        </p:txBody>
      </p:sp>
      <p:sp>
        <p:nvSpPr>
          <p:cNvPr id="225" name="Google Shape;225;p41"/>
          <p:cNvSpPr txBox="1"/>
          <p:nvPr>
            <p:ph idx="1" type="body"/>
          </p:nvPr>
        </p:nvSpPr>
        <p:spPr>
          <a:xfrm>
            <a:off x="311700" y="2006825"/>
            <a:ext cx="8655900" cy="1674600"/>
          </a:xfrm>
          <a:prstGeom prst="rect">
            <a:avLst/>
          </a:prstGeom>
        </p:spPr>
        <p:txBody>
          <a:bodyPr anchorCtr="0" anchor="t" bIns="91425" lIns="91425" spcFirstLastPara="1" rIns="91425" wrap="square" tIns="91425">
            <a:noAutofit/>
          </a:bodyPr>
          <a:lstStyle/>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Planejamos manter uma relação amistosa com o cliente;</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Escutando os problemas</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Sempre com formalidade como time de solução;</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Pontualidade e compromisso com as atividades.</a:t>
            </a:r>
            <a:endParaRPr sz="1500">
              <a:latin typeface="Arial"/>
              <a:ea typeface="Arial"/>
              <a:cs typeface="Arial"/>
              <a:sym typeface="Arial"/>
            </a:endParaRPr>
          </a:p>
          <a:p>
            <a:pPr indent="0" lvl="0" marL="914400" marR="0" rtl="0" algn="l">
              <a:lnSpc>
                <a:spcPct val="180000"/>
              </a:lnSpc>
              <a:spcBef>
                <a:spcPts val="1200"/>
              </a:spcBef>
              <a:spcAft>
                <a:spcPts val="1200"/>
              </a:spcAft>
              <a:buSzPts val="770"/>
              <a:buNone/>
            </a:pPr>
            <a:r>
              <a:t/>
            </a:r>
            <a:endParaRPr sz="1500">
              <a:latin typeface="Arial"/>
              <a:ea typeface="Arial"/>
              <a:cs typeface="Arial"/>
              <a:sym typeface="Arial"/>
            </a:endParaRPr>
          </a:p>
        </p:txBody>
      </p:sp>
      <p:cxnSp>
        <p:nvCxnSpPr>
          <p:cNvPr id="226" name="Google Shape;226;p41"/>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0" name="Shape 230"/>
        <p:cNvGrpSpPr/>
        <p:nvPr/>
      </p:nvGrpSpPr>
      <p:grpSpPr>
        <a:xfrm>
          <a:off x="0" y="0"/>
          <a:ext cx="0" cy="0"/>
          <a:chOff x="0" y="0"/>
          <a:chExt cx="0" cy="0"/>
        </a:xfrm>
      </p:grpSpPr>
      <p:sp>
        <p:nvSpPr>
          <p:cNvPr id="231" name="Google Shape;231;p42"/>
          <p:cNvSpPr txBox="1"/>
          <p:nvPr>
            <p:ph type="title"/>
          </p:nvPr>
        </p:nvSpPr>
        <p:spPr>
          <a:xfrm>
            <a:off x="1592700" y="2141250"/>
            <a:ext cx="59586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Entendimento do Problema</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446175" y="445025"/>
            <a:ext cx="53949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Entendimento do Problema</a:t>
            </a:r>
            <a:endParaRPr/>
          </a:p>
        </p:txBody>
      </p:sp>
      <p:sp>
        <p:nvSpPr>
          <p:cNvPr id="237" name="Google Shape;237;p43"/>
          <p:cNvSpPr txBox="1"/>
          <p:nvPr>
            <p:ph idx="1" type="body"/>
          </p:nvPr>
        </p:nvSpPr>
        <p:spPr>
          <a:xfrm>
            <a:off x="311700" y="2006825"/>
            <a:ext cx="8520600" cy="2719200"/>
          </a:xfrm>
          <a:prstGeom prst="rect">
            <a:avLst/>
          </a:prstGeom>
        </p:spPr>
        <p:txBody>
          <a:bodyPr anchorCtr="0" anchor="t" bIns="91425" lIns="91425" spcFirstLastPara="1" rIns="91425" wrap="square" tIns="91425">
            <a:normAutofit/>
          </a:bodyPr>
          <a:lstStyle/>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Contexto do problema e como é contornado atualmente</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Conversa inicial com usuário</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Questionário com cliente</a:t>
            </a:r>
            <a:endParaRPr sz="1500">
              <a:latin typeface="Arial"/>
              <a:ea typeface="Arial"/>
              <a:cs typeface="Arial"/>
              <a:sym typeface="Arial"/>
            </a:endParaRPr>
          </a:p>
          <a:p>
            <a:pPr indent="-323850" lvl="0" marL="457200" marR="0" rtl="0" algn="l">
              <a:lnSpc>
                <a:spcPct val="200000"/>
              </a:lnSpc>
              <a:spcBef>
                <a:spcPts val="0"/>
              </a:spcBef>
              <a:spcAft>
                <a:spcPts val="0"/>
              </a:spcAft>
              <a:buSzPts val="1500"/>
              <a:buFont typeface="Arial"/>
              <a:buChar char="●"/>
            </a:pPr>
            <a:r>
              <a:rPr lang="pt-BR" sz="1500">
                <a:latin typeface="Arial"/>
                <a:ea typeface="Arial"/>
                <a:cs typeface="Arial"/>
                <a:sym typeface="Arial"/>
              </a:rPr>
              <a:t>Levantamento de dados e informações que precisamos</a:t>
            </a:r>
            <a:endParaRPr sz="1500">
              <a:latin typeface="Arial"/>
              <a:ea typeface="Arial"/>
              <a:cs typeface="Arial"/>
              <a:sym typeface="Arial"/>
            </a:endParaRPr>
          </a:p>
        </p:txBody>
      </p:sp>
      <p:cxnSp>
        <p:nvCxnSpPr>
          <p:cNvPr id="238" name="Google Shape;238;p43"/>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42" name="Shape 242"/>
        <p:cNvGrpSpPr/>
        <p:nvPr/>
      </p:nvGrpSpPr>
      <p:grpSpPr>
        <a:xfrm>
          <a:off x="0" y="0"/>
          <a:ext cx="0" cy="0"/>
          <a:chOff x="0" y="0"/>
          <a:chExt cx="0" cy="0"/>
        </a:xfrm>
      </p:grpSpPr>
      <p:sp>
        <p:nvSpPr>
          <p:cNvPr id="243" name="Google Shape;243;p44"/>
          <p:cNvSpPr txBox="1"/>
          <p:nvPr>
            <p:ph type="title"/>
          </p:nvPr>
        </p:nvSpPr>
        <p:spPr>
          <a:xfrm>
            <a:off x="2109450" y="2141250"/>
            <a:ext cx="4925100" cy="861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t-BR" sz="3800">
                <a:solidFill>
                  <a:srgbClr val="EFEFEF"/>
                </a:solidFill>
              </a:rPr>
              <a:t>Clareza na Apresentação</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446175" y="445025"/>
            <a:ext cx="4932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Clareza da Apresentação</a:t>
            </a:r>
            <a:endParaRPr/>
          </a:p>
        </p:txBody>
      </p:sp>
      <p:sp>
        <p:nvSpPr>
          <p:cNvPr id="249" name="Google Shape;249;p45"/>
          <p:cNvSpPr txBox="1"/>
          <p:nvPr>
            <p:ph idx="1" type="body"/>
          </p:nvPr>
        </p:nvSpPr>
        <p:spPr>
          <a:xfrm>
            <a:off x="311700" y="2006825"/>
            <a:ext cx="8520600" cy="2780100"/>
          </a:xfrm>
          <a:prstGeom prst="rect">
            <a:avLst/>
          </a:prstGeom>
        </p:spPr>
        <p:txBody>
          <a:bodyPr anchorCtr="0" anchor="t" bIns="91425" lIns="91425" spcFirstLastPara="1" rIns="91425" wrap="square" tIns="91425">
            <a:normAutofit/>
          </a:bodyPr>
          <a:lstStyle/>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Valorizar o tempo do cliente</a:t>
            </a:r>
            <a:endParaRPr sz="1500">
              <a:latin typeface="Arial"/>
              <a:ea typeface="Arial"/>
              <a:cs typeface="Arial"/>
              <a:sym typeface="Arial"/>
            </a:endParaRPr>
          </a:p>
          <a:p>
            <a:pPr indent="-323850" lvl="0" marL="457200" marR="0" rtl="0" algn="l">
              <a:lnSpc>
                <a:spcPct val="180000"/>
              </a:lnSpc>
              <a:spcBef>
                <a:spcPts val="0"/>
              </a:spcBef>
              <a:spcAft>
                <a:spcPts val="0"/>
              </a:spcAft>
              <a:buSzPts val="1500"/>
              <a:buFont typeface="Arial"/>
              <a:buChar char="●"/>
            </a:pPr>
            <a:r>
              <a:rPr lang="pt-BR" sz="1500">
                <a:latin typeface="Arial"/>
                <a:ea typeface="Arial"/>
                <a:cs typeface="Arial"/>
                <a:sym typeface="Arial"/>
              </a:rPr>
              <a:t>S</a:t>
            </a:r>
            <a:r>
              <a:rPr lang="pt-BR" sz="1500">
                <a:latin typeface="Arial"/>
                <a:ea typeface="Arial"/>
                <a:cs typeface="Arial"/>
                <a:sym typeface="Arial"/>
              </a:rPr>
              <a:t>er conciso nos tópicos aqui levantados para que não haja dúvida</a:t>
            </a:r>
            <a:endParaRPr sz="1500">
              <a:latin typeface="Arial"/>
              <a:ea typeface="Arial"/>
              <a:cs typeface="Arial"/>
              <a:sym typeface="Arial"/>
            </a:endParaRPr>
          </a:p>
        </p:txBody>
      </p:sp>
      <p:cxnSp>
        <p:nvCxnSpPr>
          <p:cNvPr id="250" name="Google Shape;250;p45"/>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4" name="Shape 254"/>
        <p:cNvGrpSpPr/>
        <p:nvPr/>
      </p:nvGrpSpPr>
      <p:grpSpPr>
        <a:xfrm>
          <a:off x="0" y="0"/>
          <a:ext cx="0" cy="0"/>
          <a:chOff x="0" y="0"/>
          <a:chExt cx="0" cy="0"/>
        </a:xfrm>
      </p:grpSpPr>
      <p:sp>
        <p:nvSpPr>
          <p:cNvPr id="255" name="Google Shape;255;p46"/>
          <p:cNvSpPr txBox="1"/>
          <p:nvPr>
            <p:ph type="title"/>
          </p:nvPr>
        </p:nvSpPr>
        <p:spPr>
          <a:xfrm>
            <a:off x="2055600" y="2141250"/>
            <a:ext cx="50328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Qualidade das Soluções</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446175" y="445025"/>
            <a:ext cx="53949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Qualidade das Soluções</a:t>
            </a:r>
            <a:endParaRPr/>
          </a:p>
        </p:txBody>
      </p:sp>
      <p:sp>
        <p:nvSpPr>
          <p:cNvPr id="261" name="Google Shape;261;p47"/>
          <p:cNvSpPr txBox="1"/>
          <p:nvPr>
            <p:ph idx="1" type="body"/>
          </p:nvPr>
        </p:nvSpPr>
        <p:spPr>
          <a:xfrm>
            <a:off x="269675" y="2620325"/>
            <a:ext cx="8520600" cy="666300"/>
          </a:xfrm>
          <a:prstGeom prst="rect">
            <a:avLst/>
          </a:prstGeom>
        </p:spPr>
        <p:txBody>
          <a:bodyPr anchorCtr="0" anchor="t" bIns="91425" lIns="91425" spcFirstLastPara="1" rIns="91425" wrap="square" tIns="91425">
            <a:normAutofit/>
          </a:bodyPr>
          <a:lstStyle/>
          <a:p>
            <a:pPr indent="-323850" lvl="0" marL="457200" marR="0" rtl="0" algn="l">
              <a:lnSpc>
                <a:spcPct val="100000"/>
              </a:lnSpc>
              <a:spcBef>
                <a:spcPts val="0"/>
              </a:spcBef>
              <a:spcAft>
                <a:spcPts val="0"/>
              </a:spcAft>
              <a:buSzPts val="1500"/>
              <a:buFont typeface="Arial"/>
              <a:buChar char="●"/>
            </a:pPr>
            <a:r>
              <a:rPr lang="pt-BR" sz="1500">
                <a:latin typeface="Arial"/>
                <a:ea typeface="Arial"/>
                <a:cs typeface="Arial"/>
                <a:sym typeface="Arial"/>
              </a:rPr>
              <a:t>Uma plataforma digital que centralize as solicitações de veículos e exponha as rotas traçadas para otimizar o uso de combustível e de contratações de motoristas.</a:t>
            </a:r>
            <a:endParaRPr sz="1500">
              <a:latin typeface="Arial"/>
              <a:ea typeface="Arial"/>
              <a:cs typeface="Arial"/>
              <a:sym typeface="Arial"/>
            </a:endParaRPr>
          </a:p>
        </p:txBody>
      </p:sp>
      <p:cxnSp>
        <p:nvCxnSpPr>
          <p:cNvPr id="262" name="Google Shape;262;p47"/>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66" name="Shape 266"/>
        <p:cNvGrpSpPr/>
        <p:nvPr/>
      </p:nvGrpSpPr>
      <p:grpSpPr>
        <a:xfrm>
          <a:off x="0" y="0"/>
          <a:ext cx="0" cy="0"/>
          <a:chOff x="0" y="0"/>
          <a:chExt cx="0" cy="0"/>
        </a:xfrm>
      </p:grpSpPr>
      <p:sp>
        <p:nvSpPr>
          <p:cNvPr id="267" name="Google Shape;267;p48"/>
          <p:cNvSpPr txBox="1"/>
          <p:nvPr>
            <p:ph type="title"/>
          </p:nvPr>
        </p:nvSpPr>
        <p:spPr>
          <a:xfrm>
            <a:off x="2109450" y="2141250"/>
            <a:ext cx="4925100" cy="861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t-BR" sz="3800">
                <a:solidFill>
                  <a:srgbClr val="EFEFEF"/>
                </a:solidFill>
              </a:rPr>
              <a:t>Nível de Planejamento</a:t>
            </a:r>
            <a:endParaRPr sz="4000"/>
          </a:p>
        </p:txBody>
      </p: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9"/>
          <p:cNvSpPr txBox="1"/>
          <p:nvPr>
            <p:ph type="title"/>
          </p:nvPr>
        </p:nvSpPr>
        <p:spPr>
          <a:xfrm>
            <a:off x="446175" y="445025"/>
            <a:ext cx="4932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Nível de Planejamento</a:t>
            </a:r>
            <a:endParaRPr/>
          </a:p>
        </p:txBody>
      </p:sp>
      <p:sp>
        <p:nvSpPr>
          <p:cNvPr id="273" name="Google Shape;273;p49"/>
          <p:cNvSpPr txBox="1"/>
          <p:nvPr>
            <p:ph idx="1" type="body"/>
          </p:nvPr>
        </p:nvSpPr>
        <p:spPr>
          <a:xfrm>
            <a:off x="311700" y="1529150"/>
            <a:ext cx="8520600" cy="2913300"/>
          </a:xfrm>
          <a:prstGeom prst="rect">
            <a:avLst/>
          </a:prstGeom>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SzPts val="1500"/>
              <a:buFont typeface="Arial"/>
              <a:buChar char="●"/>
            </a:pPr>
            <a:r>
              <a:rPr lang="pt-BR" sz="1500">
                <a:latin typeface="Arial"/>
                <a:ea typeface="Arial"/>
                <a:cs typeface="Arial"/>
                <a:sym typeface="Arial"/>
              </a:rPr>
              <a:t>O time se organizou com base nas atividades do classroom e conteúdos dados entre as disciplinas. Assim, utilizamos as perguntas de sugestão e também dúvidas levantadas durante debates internos.</a:t>
            </a:r>
            <a:br>
              <a:rPr lang="pt-BR" sz="1500">
                <a:latin typeface="Arial"/>
                <a:ea typeface="Arial"/>
                <a:cs typeface="Arial"/>
                <a:sym typeface="Arial"/>
              </a:rPr>
            </a:br>
            <a:endParaRPr sz="1500">
              <a:latin typeface="Arial"/>
              <a:ea typeface="Arial"/>
              <a:cs typeface="Arial"/>
              <a:sym typeface="Arial"/>
            </a:endParaRPr>
          </a:p>
          <a:p>
            <a:pPr indent="-323850" lvl="0" marL="457200" marR="0" rtl="0" algn="l">
              <a:lnSpc>
                <a:spcPct val="100000"/>
              </a:lnSpc>
              <a:spcBef>
                <a:spcPts val="0"/>
              </a:spcBef>
              <a:spcAft>
                <a:spcPts val="0"/>
              </a:spcAft>
              <a:buSzPts val="1500"/>
              <a:buFont typeface="Arial"/>
              <a:buChar char="●"/>
            </a:pPr>
            <a:r>
              <a:rPr lang="pt-BR" sz="1500">
                <a:latin typeface="Arial"/>
                <a:ea typeface="Arial"/>
                <a:cs typeface="Arial"/>
                <a:sym typeface="Arial"/>
              </a:rPr>
              <a:t>Para conversas com cliente e usuários planejamos manter um relacionamento cordial e frequente</a:t>
            </a:r>
            <a:br>
              <a:rPr lang="pt-BR" sz="1500">
                <a:latin typeface="Arial"/>
                <a:ea typeface="Arial"/>
                <a:cs typeface="Arial"/>
                <a:sym typeface="Arial"/>
              </a:rPr>
            </a:br>
            <a:endParaRPr sz="1500">
              <a:latin typeface="Arial"/>
              <a:ea typeface="Arial"/>
              <a:cs typeface="Arial"/>
              <a:sym typeface="Arial"/>
            </a:endParaRPr>
          </a:p>
          <a:p>
            <a:pPr indent="-323850" lvl="0" marL="457200" rtl="0" algn="l">
              <a:lnSpc>
                <a:spcPct val="100000"/>
              </a:lnSpc>
              <a:spcBef>
                <a:spcPts val="0"/>
              </a:spcBef>
              <a:spcAft>
                <a:spcPts val="0"/>
              </a:spcAft>
              <a:buSzPts val="1500"/>
              <a:buFont typeface="Arial"/>
              <a:buChar char="●"/>
            </a:pPr>
            <a:r>
              <a:rPr lang="pt-BR" sz="1500">
                <a:latin typeface="Arial"/>
                <a:ea typeface="Arial"/>
                <a:cs typeface="Arial"/>
                <a:sym typeface="Arial"/>
              </a:rPr>
              <a:t>Estamos dividindo as atividades mas ainda estamos realizando sempre em conjunto.</a:t>
            </a:r>
            <a:endParaRPr sz="1500">
              <a:latin typeface="Arial"/>
              <a:ea typeface="Arial"/>
              <a:cs typeface="Arial"/>
              <a:sym typeface="Arial"/>
            </a:endParaRPr>
          </a:p>
          <a:p>
            <a:pPr indent="-323850" lvl="1" marL="914400" rtl="0" algn="l">
              <a:lnSpc>
                <a:spcPct val="100000"/>
              </a:lnSpc>
              <a:spcBef>
                <a:spcPts val="0"/>
              </a:spcBef>
              <a:spcAft>
                <a:spcPts val="0"/>
              </a:spcAft>
              <a:buSzPts val="1500"/>
              <a:buFont typeface="Arial"/>
              <a:buChar char="○"/>
            </a:pPr>
            <a:r>
              <a:rPr lang="pt-BR" sz="1500">
                <a:latin typeface="Arial"/>
                <a:ea typeface="Arial"/>
                <a:cs typeface="Arial"/>
                <a:sym typeface="Arial"/>
              </a:rPr>
              <a:t>Durante as conversas com o cliente, algumas pessoas estão designadas para anotar as respostas das perguntas.</a:t>
            </a:r>
            <a:endParaRPr sz="1500">
              <a:latin typeface="Arial"/>
              <a:ea typeface="Arial"/>
              <a:cs typeface="Arial"/>
              <a:sym typeface="Arial"/>
            </a:endParaRPr>
          </a:p>
          <a:p>
            <a:pPr indent="-323850" lvl="1" marL="914400" rtl="0" algn="l">
              <a:lnSpc>
                <a:spcPct val="100000"/>
              </a:lnSpc>
              <a:spcBef>
                <a:spcPts val="0"/>
              </a:spcBef>
              <a:spcAft>
                <a:spcPts val="0"/>
              </a:spcAft>
              <a:buSzPts val="1500"/>
              <a:buFont typeface="Arial"/>
              <a:buChar char="○"/>
            </a:pPr>
            <a:r>
              <a:rPr lang="pt-BR" sz="1500">
                <a:latin typeface="Arial"/>
                <a:ea typeface="Arial"/>
                <a:cs typeface="Arial"/>
                <a:sym typeface="Arial"/>
              </a:rPr>
              <a:t>Enquanto outras pessoas conduzem a interação com base no planejado e tirando dúvidas e levantando questionamentos conforme forem surgindo</a:t>
            </a:r>
            <a:br>
              <a:rPr lang="pt-BR" sz="1500">
                <a:latin typeface="Arial"/>
                <a:ea typeface="Arial"/>
                <a:cs typeface="Arial"/>
                <a:sym typeface="Arial"/>
              </a:rPr>
            </a:br>
            <a:endParaRPr sz="1500">
              <a:latin typeface="Arial"/>
              <a:ea typeface="Arial"/>
              <a:cs typeface="Arial"/>
              <a:sym typeface="Arial"/>
            </a:endParaRPr>
          </a:p>
          <a:p>
            <a:pPr indent="-323850" lvl="0" marL="457200" rtl="0" algn="l">
              <a:lnSpc>
                <a:spcPct val="100000"/>
              </a:lnSpc>
              <a:spcBef>
                <a:spcPts val="0"/>
              </a:spcBef>
              <a:spcAft>
                <a:spcPts val="0"/>
              </a:spcAft>
              <a:buSzPts val="1500"/>
              <a:buFont typeface="Arial"/>
              <a:buChar char="●"/>
            </a:pPr>
            <a:r>
              <a:rPr lang="pt-BR" sz="1500">
                <a:latin typeface="Arial"/>
                <a:ea typeface="Arial"/>
                <a:cs typeface="Arial"/>
                <a:sym typeface="Arial"/>
              </a:rPr>
              <a:t>Estamos realizando reuniões constantes a medida do necessário após as aulas.</a:t>
            </a:r>
            <a:endParaRPr sz="1500">
              <a:latin typeface="Arial"/>
              <a:ea typeface="Arial"/>
              <a:cs typeface="Arial"/>
              <a:sym typeface="Arial"/>
            </a:endParaRPr>
          </a:p>
        </p:txBody>
      </p:sp>
      <p:cxnSp>
        <p:nvCxnSpPr>
          <p:cNvPr id="274" name="Google Shape;274;p49"/>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278" name="Shape 278"/>
        <p:cNvGrpSpPr/>
        <p:nvPr/>
      </p:nvGrpSpPr>
      <p:grpSpPr>
        <a:xfrm>
          <a:off x="0" y="0"/>
          <a:ext cx="0" cy="0"/>
          <a:chOff x="0" y="0"/>
          <a:chExt cx="0" cy="0"/>
        </a:xfrm>
      </p:grpSpPr>
      <p:sp>
        <p:nvSpPr>
          <p:cNvPr id="279" name="Google Shape;279;p50"/>
          <p:cNvSpPr txBox="1"/>
          <p:nvPr>
            <p:ph type="title"/>
          </p:nvPr>
        </p:nvSpPr>
        <p:spPr>
          <a:xfrm>
            <a:off x="2987850" y="2316550"/>
            <a:ext cx="3168300" cy="77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pt-BR" sz="4590"/>
              <a:t>Dúvidas</a:t>
            </a:r>
            <a:r>
              <a:rPr lang="pt-BR" sz="4500"/>
              <a:t>?</a:t>
            </a:r>
            <a:endParaRPr sz="4500"/>
          </a:p>
        </p:txBody>
      </p:sp>
      <p:pic>
        <p:nvPicPr>
          <p:cNvPr id="280" name="Google Shape;280;p50"/>
          <p:cNvPicPr preferRelativeResize="0"/>
          <p:nvPr/>
        </p:nvPicPr>
        <p:blipFill>
          <a:blip r:embed="rId3">
            <a:alphaModFix/>
          </a:blip>
          <a:stretch>
            <a:fillRect/>
          </a:stretch>
        </p:blipFill>
        <p:spPr>
          <a:xfrm rot="-9275230">
            <a:off x="229744" y="679393"/>
            <a:ext cx="636941" cy="1138498"/>
          </a:xfrm>
          <a:prstGeom prst="rect">
            <a:avLst/>
          </a:prstGeom>
          <a:noFill/>
          <a:ln>
            <a:noFill/>
          </a:ln>
        </p:spPr>
      </p:pic>
      <p:pic>
        <p:nvPicPr>
          <p:cNvPr id="281" name="Google Shape;281;p50"/>
          <p:cNvPicPr preferRelativeResize="0"/>
          <p:nvPr/>
        </p:nvPicPr>
        <p:blipFill>
          <a:blip r:embed="rId4">
            <a:alphaModFix/>
          </a:blip>
          <a:stretch>
            <a:fillRect/>
          </a:stretch>
        </p:blipFill>
        <p:spPr>
          <a:xfrm>
            <a:off x="7870785" y="3622725"/>
            <a:ext cx="1155665" cy="1112576"/>
          </a:xfrm>
          <a:prstGeom prst="rect">
            <a:avLst/>
          </a:prstGeom>
          <a:noFill/>
          <a:ln>
            <a:noFill/>
          </a:ln>
        </p:spPr>
      </p:pic>
      <p:pic>
        <p:nvPicPr>
          <p:cNvPr id="282" name="Google Shape;282;p50"/>
          <p:cNvPicPr preferRelativeResize="0"/>
          <p:nvPr/>
        </p:nvPicPr>
        <p:blipFill>
          <a:blip r:embed="rId5">
            <a:alphaModFix/>
          </a:blip>
          <a:stretch>
            <a:fillRect/>
          </a:stretch>
        </p:blipFill>
        <p:spPr>
          <a:xfrm>
            <a:off x="6530225" y="4273729"/>
            <a:ext cx="2369832" cy="760946"/>
          </a:xfrm>
          <a:prstGeom prst="rect">
            <a:avLst/>
          </a:prstGeom>
          <a:noFill/>
          <a:ln>
            <a:noFill/>
          </a:ln>
        </p:spPr>
      </p:pic>
      <p:pic>
        <p:nvPicPr>
          <p:cNvPr id="283" name="Google Shape;283;p50"/>
          <p:cNvPicPr preferRelativeResize="0"/>
          <p:nvPr/>
        </p:nvPicPr>
        <p:blipFill>
          <a:blip r:embed="rId5">
            <a:alphaModFix/>
          </a:blip>
          <a:stretch>
            <a:fillRect/>
          </a:stretch>
        </p:blipFill>
        <p:spPr>
          <a:xfrm>
            <a:off x="138770" y="167350"/>
            <a:ext cx="1945630" cy="745690"/>
          </a:xfrm>
          <a:prstGeom prst="rect">
            <a:avLst/>
          </a:prstGeom>
          <a:noFill/>
          <a:ln>
            <a:noFill/>
          </a:ln>
        </p:spPr>
      </p:pic>
      <p:pic>
        <p:nvPicPr>
          <p:cNvPr id="284" name="Google Shape;284;p50"/>
          <p:cNvPicPr preferRelativeResize="0"/>
          <p:nvPr/>
        </p:nvPicPr>
        <p:blipFill>
          <a:blip r:embed="rId6">
            <a:alphaModFix amt="23000"/>
          </a:blip>
          <a:stretch>
            <a:fillRect/>
          </a:stretch>
        </p:blipFill>
        <p:spPr>
          <a:xfrm>
            <a:off x="3386587" y="1158750"/>
            <a:ext cx="2372039" cy="3162701"/>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1"/>
          <p:cNvSpPr txBox="1"/>
          <p:nvPr>
            <p:ph type="title"/>
          </p:nvPr>
        </p:nvSpPr>
        <p:spPr>
          <a:xfrm>
            <a:off x="1809625" y="2153925"/>
            <a:ext cx="5805000" cy="477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pt-BR"/>
              <a:t>Artefatos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2"/>
          <p:cNvSpPr txBox="1"/>
          <p:nvPr>
            <p:ph type="title"/>
          </p:nvPr>
        </p:nvSpPr>
        <p:spPr>
          <a:xfrm>
            <a:off x="446175" y="445025"/>
            <a:ext cx="53949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Links</a:t>
            </a:r>
            <a:endParaRPr/>
          </a:p>
        </p:txBody>
      </p:sp>
      <p:sp>
        <p:nvSpPr>
          <p:cNvPr id="295" name="Google Shape;295;p52"/>
          <p:cNvSpPr txBox="1"/>
          <p:nvPr>
            <p:ph idx="1" type="body"/>
          </p:nvPr>
        </p:nvSpPr>
        <p:spPr>
          <a:xfrm>
            <a:off x="269675" y="2620325"/>
            <a:ext cx="8520600" cy="666300"/>
          </a:xfrm>
          <a:prstGeom prst="rect">
            <a:avLst/>
          </a:prstGeom>
        </p:spPr>
        <p:txBody>
          <a:bodyPr anchorCtr="0" anchor="t" bIns="91425" lIns="91425" spcFirstLastPara="1" rIns="91425" wrap="square" tIns="91425">
            <a:normAutofit/>
          </a:bodyPr>
          <a:lstStyle/>
          <a:p>
            <a:pPr indent="-323850" lvl="0" marL="457200" marR="0" rtl="0" algn="l">
              <a:lnSpc>
                <a:spcPct val="100000"/>
              </a:lnSpc>
              <a:spcBef>
                <a:spcPts val="0"/>
              </a:spcBef>
              <a:spcAft>
                <a:spcPts val="0"/>
              </a:spcAft>
              <a:buSzPts val="1500"/>
              <a:buFont typeface="Arial"/>
              <a:buChar char="●"/>
            </a:pPr>
            <a:r>
              <a:rPr lang="pt-BR" sz="1500" u="sng">
                <a:solidFill>
                  <a:schemeClr val="hlink"/>
                </a:solidFill>
                <a:latin typeface="Arial"/>
                <a:ea typeface="Arial"/>
                <a:cs typeface="Arial"/>
                <a:sym typeface="Arial"/>
                <a:hlinkClick r:id="rId3"/>
              </a:rPr>
              <a:t>Github</a:t>
            </a:r>
            <a:endParaRPr sz="1500">
              <a:latin typeface="Arial"/>
              <a:ea typeface="Arial"/>
              <a:cs typeface="Arial"/>
              <a:sym typeface="Arial"/>
            </a:endParaRPr>
          </a:p>
          <a:p>
            <a:pPr indent="-323850" lvl="0" marL="457200" marR="0" rtl="0" algn="l">
              <a:lnSpc>
                <a:spcPct val="100000"/>
              </a:lnSpc>
              <a:spcBef>
                <a:spcPts val="0"/>
              </a:spcBef>
              <a:spcAft>
                <a:spcPts val="0"/>
              </a:spcAft>
              <a:buSzPts val="1500"/>
              <a:buFont typeface="Arial"/>
              <a:buChar char="●"/>
            </a:pPr>
            <a:r>
              <a:rPr lang="pt-BR" sz="1500" u="sng">
                <a:solidFill>
                  <a:schemeClr val="hlink"/>
                </a:solidFill>
                <a:latin typeface="Arial"/>
                <a:ea typeface="Arial"/>
                <a:cs typeface="Arial"/>
                <a:sym typeface="Arial"/>
                <a:hlinkClick r:id="rId4"/>
              </a:rPr>
              <a:t>Trello</a:t>
            </a:r>
            <a:endParaRPr sz="1500">
              <a:latin typeface="Arial"/>
              <a:ea typeface="Arial"/>
              <a:cs typeface="Arial"/>
              <a:sym typeface="Arial"/>
            </a:endParaRPr>
          </a:p>
        </p:txBody>
      </p:sp>
      <p:cxnSp>
        <p:nvCxnSpPr>
          <p:cNvPr id="296" name="Google Shape;296;p52"/>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1000">
        <p:fade thruBlk="1"/>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3"/>
          <p:cNvSpPr txBox="1"/>
          <p:nvPr>
            <p:ph type="title"/>
          </p:nvPr>
        </p:nvSpPr>
        <p:spPr>
          <a:xfrm>
            <a:off x="446175" y="445025"/>
            <a:ext cx="53949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sz="3800">
                <a:solidFill>
                  <a:schemeClr val="dk2"/>
                </a:solidFill>
              </a:rPr>
              <a:t>PM Canvas</a:t>
            </a:r>
            <a:endParaRPr/>
          </a:p>
        </p:txBody>
      </p:sp>
      <p:cxnSp>
        <p:nvCxnSpPr>
          <p:cNvPr id="302" name="Google Shape;302;p53"/>
          <p:cNvCxnSpPr/>
          <p:nvPr/>
        </p:nvCxnSpPr>
        <p:spPr>
          <a:xfrm flipH="1" rot="10800000">
            <a:off x="0" y="1202125"/>
            <a:ext cx="9169200" cy="23100"/>
          </a:xfrm>
          <a:prstGeom prst="straightConnector1">
            <a:avLst/>
          </a:prstGeom>
          <a:noFill/>
          <a:ln cap="flat" cmpd="sng" w="9525">
            <a:solidFill>
              <a:schemeClr val="dk2"/>
            </a:solidFill>
            <a:prstDash val="solid"/>
            <a:round/>
            <a:headEnd len="med" w="med" type="none"/>
            <a:tailEnd len="med" w="med" type="none"/>
          </a:ln>
        </p:spPr>
      </p:cxnSp>
      <p:pic>
        <p:nvPicPr>
          <p:cNvPr id="303" name="Google Shape;303;p53"/>
          <p:cNvPicPr preferRelativeResize="0"/>
          <p:nvPr/>
        </p:nvPicPr>
        <p:blipFill>
          <a:blip r:embed="rId3">
            <a:alphaModFix/>
          </a:blip>
          <a:stretch>
            <a:fillRect/>
          </a:stretch>
        </p:blipFill>
        <p:spPr>
          <a:xfrm>
            <a:off x="1374262" y="1275100"/>
            <a:ext cx="6395488" cy="3680025"/>
          </a:xfrm>
          <a:prstGeom prst="rect">
            <a:avLst/>
          </a:prstGeom>
          <a:noFill/>
          <a:ln>
            <a:noFill/>
          </a:ln>
        </p:spPr>
      </p:pic>
    </p:spTree>
  </p:cSld>
  <p:clrMapOvr>
    <a:masterClrMapping/>
  </p:clrMapOvr>
  <mc:AlternateContent>
    <mc:Choice Requires="p14">
      <p:transition spd="slow" p14:dur="1000">
        <p:fade thruBlk="1"/>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307" name="Shape 307"/>
        <p:cNvGrpSpPr/>
        <p:nvPr/>
      </p:nvGrpSpPr>
      <p:grpSpPr>
        <a:xfrm>
          <a:off x="0" y="0"/>
          <a:ext cx="0" cy="0"/>
          <a:chOff x="0" y="0"/>
          <a:chExt cx="0" cy="0"/>
        </a:xfrm>
      </p:grpSpPr>
      <p:sp>
        <p:nvSpPr>
          <p:cNvPr id="308" name="Google Shape;308;p54"/>
          <p:cNvSpPr txBox="1"/>
          <p:nvPr>
            <p:ph type="ctrTitle"/>
          </p:nvPr>
        </p:nvSpPr>
        <p:spPr>
          <a:xfrm>
            <a:off x="327850" y="42025"/>
            <a:ext cx="7017600" cy="155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pt-BR" sz="3480">
                <a:solidFill>
                  <a:srgbClr val="EFEFEF"/>
                </a:solidFill>
              </a:rPr>
              <a:t>Kick-off</a:t>
            </a:r>
            <a:endParaRPr sz="3480">
              <a:solidFill>
                <a:srgbClr val="EFEFEF"/>
              </a:solidFill>
            </a:endParaRPr>
          </a:p>
          <a:p>
            <a:pPr indent="0" lvl="0" marL="0" rtl="0" algn="l">
              <a:spcBef>
                <a:spcPts val="0"/>
              </a:spcBef>
              <a:spcAft>
                <a:spcPts val="0"/>
              </a:spcAft>
              <a:buSzPts val="990"/>
              <a:buNone/>
            </a:pPr>
            <a:r>
              <a:rPr lang="pt-BR" sz="3480">
                <a:solidFill>
                  <a:srgbClr val="EFEFEF"/>
                </a:solidFill>
              </a:rPr>
              <a:t>Termo de Abertura de Projeto</a:t>
            </a:r>
            <a:endParaRPr sz="3480">
              <a:solidFill>
                <a:srgbClr val="EFEFEF"/>
              </a:solidFill>
            </a:endParaRPr>
          </a:p>
        </p:txBody>
      </p:sp>
      <p:sp>
        <p:nvSpPr>
          <p:cNvPr id="309" name="Google Shape;309;p54"/>
          <p:cNvSpPr txBox="1"/>
          <p:nvPr>
            <p:ph idx="1" type="subTitle"/>
          </p:nvPr>
        </p:nvSpPr>
        <p:spPr>
          <a:xfrm>
            <a:off x="1364350" y="2765075"/>
            <a:ext cx="3263700" cy="1877700"/>
          </a:xfrm>
          <a:prstGeom prst="rect">
            <a:avLst/>
          </a:prstGeom>
        </p:spPr>
        <p:txBody>
          <a:bodyPr anchorCtr="0" anchor="t" bIns="91425" lIns="91425" spcFirstLastPara="1" rIns="91425" wrap="square" tIns="91425">
            <a:normAutofit fontScale="55000" lnSpcReduction="10000"/>
          </a:bodyPr>
          <a:lstStyle/>
          <a:p>
            <a:pPr indent="0" lvl="0" marL="0" rtl="0" algn="l">
              <a:lnSpc>
                <a:spcPct val="150000"/>
              </a:lnSpc>
              <a:spcBef>
                <a:spcPts val="0"/>
              </a:spcBef>
              <a:spcAft>
                <a:spcPts val="0"/>
              </a:spcAft>
              <a:buNone/>
            </a:pPr>
            <a:r>
              <a:rPr lang="pt-BR">
                <a:solidFill>
                  <a:srgbClr val="CCCCCC"/>
                </a:solidFill>
              </a:rPr>
              <a:t>Alessandra Luana Nascimento Pereira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Matheus Antunes Macedo</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Milton José Vieira Souto Maior</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Pedro Manoel Farias Sena de Lima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Rafael Dias de Mendonça Mesquita</a:t>
            </a:r>
            <a:endParaRPr>
              <a:solidFill>
                <a:srgbClr val="CCCCCC"/>
              </a:solidFill>
            </a:endParaRPr>
          </a:p>
          <a:p>
            <a:pPr indent="0" lvl="0" marL="0" rtl="0" algn="l">
              <a:lnSpc>
                <a:spcPct val="150000"/>
              </a:lnSpc>
              <a:spcBef>
                <a:spcPts val="0"/>
              </a:spcBef>
              <a:spcAft>
                <a:spcPts val="0"/>
              </a:spcAft>
              <a:buNone/>
            </a:pPr>
            <a:r>
              <a:rPr lang="pt-BR">
                <a:solidFill>
                  <a:srgbClr val="CCCCCC"/>
                </a:solidFill>
              </a:rPr>
              <a:t>Vítor Lopes Mourato de Sá</a:t>
            </a:r>
            <a:endParaRPr>
              <a:solidFill>
                <a:srgbClr val="CCCCCC"/>
              </a:solidFill>
            </a:endParaRPr>
          </a:p>
        </p:txBody>
      </p:sp>
    </p:spTree>
  </p:cSld>
  <p:clrMapOvr>
    <a:masterClrMapping/>
  </p:clrMapOvr>
  <mc:AlternateContent>
    <mc:Choice Requires="p14">
      <p:transition spd="slow" p14:dur="10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